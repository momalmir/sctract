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stafa Malmir" userId="28f934fa-d88c-4335-9a31-584c17a6d1fc" providerId="ADAL" clId="{8B4CAECD-2BCD-4129-979B-5ACF65DA4DC4}"/>
    <pc:docChg chg="modSld">
      <pc:chgData name="Mostafa Malmir" userId="28f934fa-d88c-4335-9a31-584c17a6d1fc" providerId="ADAL" clId="{8B4CAECD-2BCD-4129-979B-5ACF65DA4DC4}" dt="2026-03-16T04:04:36.101" v="1" actId="1076"/>
      <pc:docMkLst>
        <pc:docMk/>
      </pc:docMkLst>
      <pc:sldChg chg="modSp mod">
        <pc:chgData name="Mostafa Malmir" userId="28f934fa-d88c-4335-9a31-584c17a6d1fc" providerId="ADAL" clId="{8B4CAECD-2BCD-4129-979B-5ACF65DA4DC4}" dt="2026-03-16T04:04:36.101" v="1" actId="1076"/>
        <pc:sldMkLst>
          <pc:docMk/>
          <pc:sldMk cId="0" sldId="258"/>
        </pc:sldMkLst>
        <pc:spChg chg="mod">
          <ac:chgData name="Mostafa Malmir" userId="28f934fa-d88c-4335-9a31-584c17a6d1fc" providerId="ADAL" clId="{8B4CAECD-2BCD-4129-979B-5ACF65DA4DC4}" dt="2026-03-16T04:04:32.060" v="0" actId="1076"/>
          <ac:spMkLst>
            <pc:docMk/>
            <pc:sldMk cId="0" sldId="258"/>
            <ac:spMk id="7" creationId="{00000000-0000-0000-0000-000000000000}"/>
          </ac:spMkLst>
        </pc:spChg>
        <pc:spChg chg="mod">
          <ac:chgData name="Mostafa Malmir" userId="28f934fa-d88c-4335-9a31-584c17a6d1fc" providerId="ADAL" clId="{8B4CAECD-2BCD-4129-979B-5ACF65DA4DC4}" dt="2026-03-16T04:04:36.101" v="1" actId="1076"/>
          <ac:spMkLst>
            <pc:docMk/>
            <pc:sldMk cId="0" sldId="258"/>
            <ac:spMk id="9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228600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74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1" i="0">
                <a:solidFill>
                  <a:srgbClr val="FFFFFF"/>
                </a:solidFill>
                <a:latin typeface="Calibri"/>
              </a:rPr>
              <a:t>scTRaCT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745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AACCFF"/>
                </a:solidFill>
                <a:latin typeface="Calibri"/>
              </a:rPr>
              <a:t>Single-Cell Transformer for Cell Type Classification
with Explainable AI Gene Attribution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3246120"/>
            <a:ext cx="7616952" cy="36576"/>
          </a:xfrm>
          <a:prstGeom prst="rect">
            <a:avLst/>
          </a:prstGeom>
          <a:solidFill>
            <a:srgbClr val="1A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3383280"/>
            <a:ext cx="1127455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CDDFF"/>
                </a:solidFill>
                <a:latin typeface="Calibri"/>
              </a:rPr>
              <a:t>PhD Research Presentation
University of Texas at San Antonio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1228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626364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8BBFF"/>
                </a:solidFill>
                <a:latin typeface="Calibri"/>
              </a:rPr>
              <a:t>PyTorch  •  Captum  •  Scanpy / AnnData  •  Integrated Gradients  •  GradientSHAP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1.  The Biological Problem — why cell type classification matters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2.  scTRaCT Architecture Overview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3.  Data Inputs: Log-Normalized Counts &amp; MCA Distances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4.  Transformer Model Deep Dive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5.  Training: Focal Loss &amp; Class Imbalance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6.  What is Explainable AI (XAI)?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7.  Integrated Gradients — Theory &amp; Implementation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8.  GradientSHAP — Theory &amp; Implementation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9.  scTRaCT XAI Pipeline (Step-by-Step)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10. Outputs — Bar Charts, Heatmaps, CSVs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11. Summary &amp; Future Work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The Biological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  <a:latin typeface="Calibri"/>
              </a:rPr>
              <a:t>Why do we need to classify single cells?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430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>
                <a:solidFill>
                  <a:srgbClr val="1A1A2E"/>
                </a:solidFill>
                <a:latin typeface="Calibri"/>
              </a:rPr>
              <a:t>Single-cell RNA-seq (scRNA-seq) measures gene expression in thousands of individual cells simultaneously.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Each cell has a unique gene expression profile — its molecular fingerprint.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Cell type identity drives tissue function, disease progression, and therapy response.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Manual annotation by domain experts is slow, subjective, and does not scale to millions of cells.</a:t>
            </a:r>
          </a:p>
          <a:p>
            <a:r>
              <a:rPr sz="1700">
                <a:solidFill>
                  <a:srgbClr val="1A1A2E"/>
                </a:solidFill>
                <a:latin typeface="Calibri"/>
              </a:rPr>
              <a:t>Automated, accurate, and interpretable classifiers are therefore critical for translational research.</a:t>
            </a:r>
          </a:p>
        </p:txBody>
      </p:sp>
      <p:sp>
        <p:nvSpPr>
          <p:cNvPr id="7" name="Rectangle 6"/>
          <p:cNvSpPr/>
          <p:nvPr/>
        </p:nvSpPr>
        <p:spPr>
          <a:xfrm>
            <a:off x="8805545" y="3177540"/>
            <a:ext cx="3383280" cy="219456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641080" y="15087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Key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3291841"/>
            <a:ext cx="31089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1A1A2E"/>
                </a:solidFill>
                <a:latin typeface="Calibri"/>
              </a:rPr>
              <a:t>Rare cell types are underrepresented in training data, causing standard classifiers to ignore them.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scTRaCT Architecture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4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2926080" cy="548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Input: scRNA-seq AnnData (.h5ad)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240280"/>
            <a:ext cx="2926080" cy="548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5720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Preprocessing: log-norm + MCA distances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3017520"/>
            <a:ext cx="2926080" cy="548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Two Linear Embeddings (count + distance)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3794760"/>
            <a:ext cx="2926080" cy="548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3886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CLS Token Prepended → 3-Layer Transformer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4572000"/>
            <a:ext cx="2926080" cy="548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" y="4663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CLS Output → Fully Connected → Softmax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5349240"/>
            <a:ext cx="2926080" cy="548640"/>
          </a:xfrm>
          <a:prstGeom prst="rect">
            <a:avLst/>
          </a:prstGeom>
          <a:solidFill>
            <a:srgbClr val="D5F5E3"/>
          </a:solidFill>
          <a:ln w="1905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7200" y="5440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  <a:latin typeface="Calibri"/>
              </a:rPr>
              <a:t>Predicted Cell Type  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91640" y="205740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6DA4"/>
                </a:solidFill>
                <a:latin typeface="Calibri"/>
              </a:rPr>
              <a:t>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91640" y="283464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6DA4"/>
                </a:solidFill>
                <a:latin typeface="Calibri"/>
              </a:rPr>
              <a:t>▼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91640" y="361188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6DA4"/>
                </a:solidFill>
                <a:latin typeface="Calibri"/>
              </a:rPr>
              <a:t>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438912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6DA4"/>
                </a:solidFill>
                <a:latin typeface="Calibri"/>
              </a:rPr>
              <a:t>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91640" y="5166360"/>
            <a:ext cx="365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2E6DA4"/>
                </a:solidFill>
                <a:latin typeface="Calibri"/>
              </a:rPr>
              <a:t>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1371600"/>
            <a:ext cx="8046720" cy="512064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23360" y="1463040"/>
            <a:ext cx="7680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Key Design Decisions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1920240"/>
            <a:ext cx="7772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Dual Input Streams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Count embeddings encode gene expression magnitude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Distance embeddings encode MCA cell-to-gene distances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Both are projected to the same embedding dimension, then concatenated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CLS Token (borrowed from BERT)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A learnable [CLS] vector is prepended to the sequence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After all attention layers, its representation summarizes the entire cell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Only the CLS position is passed to the classifier head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3-Layer Multi-Head Self-Attention (8 heads)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Each layer: Attention → Residual + LayerNorm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Final layer adds a Feed-Forward Network (FFN) block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FocalLoss — handles class imbalance</a:t>
            </a:r>
          </a:p>
          <a:p>
            <a:pPr lvl="1"/>
            <a:r>
              <a:rPr sz="1100">
                <a:solidFill>
                  <a:srgbClr val="555577"/>
                </a:solidFill>
                <a:latin typeface="Calibri"/>
              </a:rPr>
              <a:t>Down-weights easy examples so rare cell types get more gradient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Data Inputs: Two Complementary Views of Each Cell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5120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Stream 1 — Log-Normalized Counts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Raw UMI counts are log1p-normalized per cell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Layer key: adata.layers['lognorm']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Shape: (cells × genes) sparse matrix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Captures which genes are expressed and by how much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Standard preprocessing in Scanpy / scRNA-seq pipelines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Baseline for IG = zero vector (silent cell)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5120640"/>
          </a:xfrm>
          <a:prstGeom prst="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Stream 2 — MCA Distance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Multiple Correspondence Analysis (MCA) maps cells and genes into a shared factor space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Euclidean distances in this space = gene-to-cell affinity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Layer key: adata.layers['distance_matrix']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Transformed to inverse distance:  1 / (d + ε)  before embedding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This gives high weight to nearby (highly associated) genes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Adds structural, geometry-aware information beyond raw counts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77"/>
                </a:solidFill>
                <a:latin typeface="Calibri"/>
              </a:rPr>
              <a:t>⟷  Both streams are embedded independently, then concatenated before the Transformer  ⟷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Transformer Model — Forward Pass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  <a:latin typeface="Calibri"/>
              </a:rPr>
              <a:t>model.py  |  TransformerModel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1164031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11480" y="140817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Step 1 — Embed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408176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count_embed = Linear(num_genes → 1024)(x_counts)
dist_embed  = Linear(num_genes → 1024)(x_dist)
x = concat([count_embed, dist_embed], dim=-1)   # → dim 2048
x = x.unsqueeze(1)   # shape: (batch, 1, 2048)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22576"/>
            <a:ext cx="1164031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11480" y="235915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Step 2 — CLS Token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359152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cls = learnable parameter (1, 1, 2048)
x = concat([cls, x], dim=1)   # shape: (batch, 2, 2048)
x = LayerNorm(x)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73552"/>
            <a:ext cx="1164031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11480" y="33101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Step 3 — 3× Self-Attention Block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10128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for each layer:
  attn_out = MultiHeadAttention(x)   # 8 heads
  x = x + Dropout(LayerNorm(attn_out))   # residual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224528"/>
            <a:ext cx="11640312" cy="86868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1480" y="426110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Step 4 — Feed-Forward Network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61104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ffn_out = Linear(2048→2048)(GELU(Linear(2048→2048)(x)))
x = x + Dropout(LayerNorm(ffn_out))   # residual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5175504"/>
            <a:ext cx="11640312" cy="868680"/>
          </a:xfrm>
          <a:prstGeom prst="rect">
            <a:avLst/>
          </a:prstGeom>
          <a:solidFill>
            <a:srgbClr val="D5F5E3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11480" y="521208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Step 5 — Classify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5212080"/>
            <a:ext cx="8595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ourier New"/>
              </a:rPr>
              <a:t>logits = Linear(2048 → num_classes)(x[:, 0])   # CLS position only
prediction = argmax(logits)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Explainable AI (XAI) —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  <a:latin typeface="Calibri"/>
              </a:rPr>
              <a:t>Turning predictions into biological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12471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0" i="1">
                <a:solidFill>
                  <a:srgbClr val="1A3A5C"/>
                </a:solidFill>
                <a:latin typeface="Calibri"/>
              </a:rPr>
              <a:t>A model that says "this is a CD4 T cell" is useful.
A model that also says "…because SELL, CCR7, and IL7R are highly expressed" is scientifically valuable.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2286000"/>
            <a:ext cx="11640312" cy="36576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274320" y="2423160"/>
            <a:ext cx="3657600" cy="4160520"/>
          </a:xfrm>
          <a:prstGeom prst="rect">
            <a:avLst/>
          </a:prstGeom>
          <a:solidFill>
            <a:srgbClr val="D6E8F5"/>
          </a:solidFill>
          <a:ln w="254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79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  <a:latin typeface="Calibri"/>
              </a:rPr>
              <a:t>Black-box
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3200400"/>
            <a:ext cx="3383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Deep neural nets give accurate predictions but the internal reasoning is opaque. Professors, reviewers, and clinicians need justification.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2423160"/>
            <a:ext cx="3657600" cy="4160520"/>
          </a:xfrm>
          <a:prstGeom prst="rect">
            <a:avLst/>
          </a:prstGeom>
          <a:solidFill>
            <a:srgbClr val="D6E8F5"/>
          </a:solidFill>
          <a:ln w="254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343400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E6DA4"/>
                </a:solidFill>
                <a:latin typeface="Calibri"/>
              </a:rPr>
              <a:t>Biological
validation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00400"/>
            <a:ext cx="3383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If top-attributed genes match known cell-type markers, we gain confidence that the model learned real biology — not spurious correlations.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2423160"/>
            <a:ext cx="3657600" cy="4160520"/>
          </a:xfrm>
          <a:prstGeom prst="rect">
            <a:avLst/>
          </a:prstGeom>
          <a:solidFill>
            <a:srgbClr val="D6E8F5"/>
          </a:solidFill>
          <a:ln w="254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275320" y="2514600"/>
            <a:ext cx="33832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27AE60"/>
                </a:solidFill>
                <a:latin typeface="Calibri"/>
              </a:rPr>
              <a:t>Discovery
potential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3200400"/>
            <a:ext cx="3383280" cy="3246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1A1A2E"/>
                </a:solidFill>
                <a:latin typeface="Calibri"/>
              </a:rPr>
              <a:t>High-scoring genes that are NOT known markers may represent novel biology or batch effects, guiding future wet-lab experiments.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555577"/>
                </a:solidFill>
                <a:latin typeface="Calibri"/>
              </a:rPr>
              <a:t>scTRaCT uses two complementary gradient-based methods: Integrated Gradients &amp; GradientSHAP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Integrated Gradients (IG) —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  <a:latin typeface="Calibri"/>
              </a:rPr>
              <a:t>Sundararajan et al., ICML 2017  |  Captum: IntegratedGradients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IG asks: how much does each input feature contribute to the model's output, relative to a neutral baseline (e.g., zero expression)? It integrates the gradients of the output w.r.t. each input along a straight path from the baseline to the actual input.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606040"/>
            <a:ext cx="10972800" cy="777240"/>
          </a:xfrm>
          <a:prstGeom prst="rect">
            <a:avLst/>
          </a:prstGeom>
          <a:solidFill>
            <a:srgbClr val="EEF5FF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670048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1A3A5C"/>
                </a:solidFill>
                <a:latin typeface="Courier New"/>
              </a:rPr>
              <a:t>IG_i(x) = (x_i − x'_i)  ×  ∫₀¹  [ ∂F(x' + α(x−x')) / ∂x_i ]  dα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474720"/>
            <a:ext cx="109728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1A1A2E"/>
                </a:solidFill>
                <a:latin typeface="Calibri"/>
              </a:rPr>
              <a:t>x  = actual cell input (log-normalized gene expression vector)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x' = baseline (zero vector → represents a 'silent' cell with no expression)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F  = model output (logit for the predicted cell type)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α  ∈ [0,1] parameterizes the interpolation from baseline to input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The integral is approximated using n_steps = 50 uniform steps (Riemann sum)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Result: a score per gene — positive means the gene pushed the prediction toward this class</a:t>
            </a:r>
          </a:p>
          <a:p>
            <a:r>
              <a:rPr sz="1400">
                <a:solidFill>
                  <a:srgbClr val="1A1A2E"/>
                </a:solidFill>
                <a:latin typeface="Calibri"/>
              </a:rPr>
              <a:t>We take the mean of absolute values across sampled cells to get a cell-type–level ranking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6446520"/>
            <a:ext cx="10972800" cy="347472"/>
          </a:xfrm>
          <a:prstGeom prst="rect">
            <a:avLst/>
          </a:prstGeom>
          <a:solidFill>
            <a:srgbClr val="FCF3CF"/>
          </a:solidFill>
          <a:ln w="127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94360" y="6473952"/>
            <a:ext cx="10698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67E22"/>
                </a:solidFill>
                <a:latin typeface="Calibri"/>
              </a:rPr>
              <a:t>Axiom: IG satisfies Completeness — the sum of all attributions equals F(x) − F(x').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GradientSHAP — Theory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  <a:latin typeface="Calibri"/>
              </a:rPr>
              <a:t>Lundberg &amp; Lee (NIPS 2017)  |  Captum: GradientShap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325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A3A5C"/>
                </a:solidFill>
                <a:latin typeface="Calibri"/>
              </a:rPr>
              <a:t>Core Idea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91640"/>
            <a:ext cx="10972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1A1A2E"/>
                </a:solidFill>
                <a:latin typeface="Calibri"/>
              </a:rPr>
              <a:t>GradientSHAP approximates SHAP (SHapley Additive exPlanations) values using gradient information. Instead of a single zero baseline, it uses a distribution of reference samples (100 randomly selected cells). Gradients are computed at noisy interpolations between the input and each baseline sample, then averaged.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834640"/>
            <a:ext cx="27432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02920" y="2907792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Property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46120" y="2834640"/>
            <a:ext cx="41148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91839" y="290779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Integrated Gradients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406640" y="2834640"/>
            <a:ext cx="4114800" cy="5029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52360" y="2907792"/>
            <a:ext cx="4023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GradientSHAP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337560"/>
            <a:ext cx="27432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02920" y="338328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Baseline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46120" y="3337560"/>
            <a:ext cx="41148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291839" y="3383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Single zero vector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3337560"/>
            <a:ext cx="41148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452360" y="33832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Distribution of real cells (100 random)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84048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Randomness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46120" y="38404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91839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Deterministic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384048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452360" y="388620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Stochastic (noise + random baseline selection)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343400"/>
            <a:ext cx="27432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2920" y="438912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Game theory link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46120" y="4343400"/>
            <a:ext cx="41148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39" y="4389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Path-based axioms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06640" y="4343400"/>
            <a:ext cx="41148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452360" y="438912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Approximates Shapley values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7200" y="4846320"/>
            <a:ext cx="27432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502920" y="489204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Computational cost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246120" y="48463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291839" y="4892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Medium (n_steps forward passes)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06640" y="4846320"/>
            <a:ext cx="41148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7452360" y="489204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Lower (one pass per baseline sample)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349240"/>
            <a:ext cx="27432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5394960"/>
            <a:ext cx="2651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Best for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246120" y="5349240"/>
            <a:ext cx="41148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3291839" y="5394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Precise per-gene attribution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406640" y="5349240"/>
            <a:ext cx="4114800" cy="50292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452360" y="53949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Capturing natural data variation as reference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62636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E6DA4"/>
                </a:solidFill>
                <a:latin typeface="Calibri"/>
              </a:rPr>
              <a:t>scTRaCT runs BOTH methods and returns IG_Score and SHAP_Score columns — genes ranking high in both are high-confidence markers.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scTRaCT XAI Pipeline — Step by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430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DDFF"/>
                </a:solidFill>
                <a:latin typeface="Calibri"/>
              </a:rPr>
              <a:t>interpretability.py  |  explain_celltype()  /  explain_all_celltypes()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10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502920" cy="758952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148132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140817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Filter Cells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79" y="1408176"/>
            <a:ext cx="8961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Select all cells whose predicted label (obs['predicted_celltypes']) matches the target cell type.
Sample up to num_cells=50 (or fewer if not available).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2139696"/>
            <a:ext cx="11292840" cy="182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74320" y="2176272"/>
            <a:ext cx="502920" cy="758952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74320" y="2286000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21284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Prepare Tensors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54679" y="2212848"/>
            <a:ext cx="8961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Convert lognorm layer → float32 tensor (counts).
Compute inverse distance:  dist = 1 / (distance_matrix + 1e-6)  → float32 tensor.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2944368"/>
            <a:ext cx="11292840" cy="182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274320" y="2980944"/>
            <a:ext cx="502920" cy="758952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74320" y="3090672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8680" y="301752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Run Integrated Gradients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54679" y="3017520"/>
            <a:ext cx="8961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baseline = zero tensor (represents zero expression / silent cell).
Integrate gradients along 50 steps from baseline → actual input.
Extract count-stream attributions:  attr_ig[0]  (shape: cells × genes).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8680" y="3749039"/>
            <a:ext cx="11292840" cy="182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74320" y="3785615"/>
            <a:ext cx="502920" cy="758952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274320" y="3895344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3822191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Run GradientSHAP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79" y="3822191"/>
            <a:ext cx="8961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background = 100 randomly sampled cells from the full adata.
GradientSHAP computes gradient at noisy interpolations between each input and a random background sample.
Extract count-stream attributions:  attr_shap[0].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68680" y="4553712"/>
            <a:ext cx="11292840" cy="182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274320" y="4590288"/>
            <a:ext cx="502920" cy="758952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74320" y="4700016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8680" y="462686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Aggregate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54679" y="4626864"/>
            <a:ext cx="8961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For both methods:  mean(|attributions|, axis=0)  → one score per gene.
Build DataFrame: gene | IG_Score | SHAP_Score — sorted descending.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68680" y="5358383"/>
            <a:ext cx="11292840" cy="18288"/>
          </a:xfrm>
          <a:prstGeom prst="rect">
            <a:avLst/>
          </a:prstGeom>
          <a:solidFill>
            <a:srgbClr val="D6E8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74320" y="5394959"/>
            <a:ext cx="502920" cy="758952"/>
          </a:xfrm>
          <a:prstGeom prst="rect">
            <a:avLst/>
          </a:prstGeom>
          <a:solidFill>
            <a:srgbClr val="1A3A5C"/>
          </a:solidFill>
          <a:ln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274320" y="5504688"/>
            <a:ext cx="502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" y="543153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Store &amp; Visualize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154679" y="5431536"/>
            <a:ext cx="896112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Saved to adata.uns['gene_attributions'][cell_type].
Optional: horizontal bar charts (top N genes) + summary heatmap across all cell types.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Using the XAI Module — Code Example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25880"/>
            <a:ext cx="11640312" cy="5257800"/>
          </a:xfrm>
          <a:prstGeom prst="rect">
            <a:avLst/>
          </a:prstGeom>
          <a:solidFill>
            <a:srgbClr val="1E1E2E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371600"/>
            <a:ext cx="11365992" cy="5166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 b="0" i="0">
                <a:solidFill>
                  <a:srgbClr val="CCFFCC"/>
                </a:solidFill>
                <a:latin typeface="Courier New"/>
              </a:rPr>
              <a:t>from scTRaCT import (prepare_data, TransformerModel, FocalLoss,
                     train_model, evaluate_on_query,
                     explain_celltype, explain_all_celltypes)
# ── 1. Prepare data ──────────────────────────────────────────────────────────
X_tr_c, X_tr_d, y_tr, X_val_c, X_val_d, y_val, le = prepare_data(adata)
# ── 2. Build &amp; train model ───────────────────────────────────────────────────
model = TransformerModel(num_genes=X_tr_c.shape[1], num_classes=len(le.classes_))
train_model(model, criterion, X_tr_c, X_tr_d, y_tr, X_val_c, X_val_d, y_val)
# ── 3. Evaluate on query data ────────────────────────────────────────────────
acc, f1, preds, query_adata = evaluate_on_query(model_path, adata_query, le)
query_adata.obs['predicted_celltypes'] = preds   # required for XAI
# ── 4a. Explain a single cell type ───────────────────────────────────────────
df = explain_celltype(
    model, query_adata, le,
    cell_type="CD4 T",           # which cell type to explain
    method="both",               # IG + GradientSHAP
    num_cells=50,                # cells to sample
    n_steps=50,                  # IG integration steps
    plot=True                    # show bar chart
)
# ── 4b. Explain ALL predicted cell types at once ─────────────────────────────
results = explain_all_celltypes(
    model, query_adata, le,
    method="both",
    save_dir="attribution_plots/"    # saves PNGs + CSVs automatically
)
# Results also stored in: query_adata.uns['gene_attributions']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XAI Outputs &amp; Visualizations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394960" cy="5120640"/>
          </a:xfrm>
          <a:prstGeom prst="rect">
            <a:avLst/>
          </a:prstGeom>
          <a:solidFill>
            <a:srgbClr val="D6E8F5"/>
          </a:solidFill>
          <a:ln w="190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Per-Cell-Type Bar Chart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02920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Horizontal bar chart — top N genes ranked by mean |attribution| score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One chart per method (IG, SHAP)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X-axis: Mean |Score| (always non-negative)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Longer bar = gene had larger influence on the prediction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Saved as:  &lt;CellType&gt;_attributions_IG.png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Immediately interpretable by domain experts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5120640"/>
          </a:xfrm>
          <a:prstGeom prst="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Summary Heatmap (All Cell Types)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Rows = predicted cell types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Columns = union of top-N genes across all types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Color = mean |attribution| score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Reveals which genes are type-specific vs shared markers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Saved as:  summary_heatmap_IG.png  /  summary_heatmap_SHAP.png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Ideal for presentations and publications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4652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555577"/>
                </a:solidFill>
                <a:latin typeface="Calibri"/>
              </a:rPr>
              <a:t>CSV files are also saved per cell type:  &lt;CellType&gt;_attributions.csv  — full gene ranking for downstream analysis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Key Implementation Details &amp; Design Choices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1640312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Why mean of ABSOLUTE values?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417320"/>
            <a:ext cx="7863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Genes can push a prediction either toward or away from a class. Taking the absolute value captures 'relevance' regardless of direction, then averaging across cells gives a stable cell-type–level ranking.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40864"/>
            <a:ext cx="11640312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" y="238658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Why the COUNT stream only?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2386584"/>
            <a:ext cx="7863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The model has two input streams (counts + distances). Attribution is computed on both, but we report only the count-stream scores because they map 1-to-1 to interpretable gene names. Distance stream attributions are in the same gene space but reflect geometric proximity, not expression.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10128"/>
            <a:ext cx="11640312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11480" y="3355848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Why not use attention weights?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31920" y="3355848"/>
            <a:ext cx="7863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The model has only 2 sequence tokens: [CLS] and [gene_embedding]. There is no per-gene attention weight to extract — the gene dimension is already compressed into a single vector before the Transformer. Gradient methods are therefore the correct tool here.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79392"/>
            <a:ext cx="11640312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11480" y="4325112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Why a random background for SHAP?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4325112"/>
            <a:ext cx="7863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SHAP expects a reference distribution that represents 'typical' data. Using 100 randomly sampled real cells from adata is more biologically realistic than a single zero vector, giving SHAP a more meaningful reference point.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5248656"/>
            <a:ext cx="11640312" cy="914400"/>
          </a:xfrm>
          <a:prstGeom prst="rect">
            <a:avLst/>
          </a:prstGeom>
          <a:solidFill>
            <a:srgbClr val="D6E8F5"/>
          </a:solidFill>
          <a:ln w="1270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11480" y="5294376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  <a:latin typeface="Calibri"/>
              </a:rPr>
              <a:t>Device handling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931920" y="5294376"/>
            <a:ext cx="786384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1A1A2E"/>
                </a:solidFill>
                <a:latin typeface="Calibri"/>
              </a:rPr>
              <a:t>Auto-detected at runtime (CUDA if available, else CPU). Never passed by the user — consistent with trainer.py.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Method Comparison: IG vs GradientSHAP vs Attention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292608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20040" y="15087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Criterion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46120" y="1417320"/>
            <a:ext cx="28346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91839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Integrated Gradients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417320"/>
            <a:ext cx="28346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17220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GradientSHAP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6840" y="1417320"/>
            <a:ext cx="2834640" cy="54864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052560" y="1508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Attention Weights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965960"/>
            <a:ext cx="292608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0040" y="20116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Theoretical grounding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965960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39" y="2011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Path-based axioms (completeness, sensitivity)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965960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2011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Shapley values (fair contribution)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06840" y="1965960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052560" y="201167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7E22"/>
                </a:solidFill>
                <a:latin typeface="Calibri"/>
              </a:rPr>
              <a:t>None — attention ≠ explanation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1460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20040" y="25603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Baseline / reference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251460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3291839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Single zero vector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6480" y="251460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17220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Distribution of real cells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251460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052560" y="2560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N/A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3063239"/>
            <a:ext cx="292608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20040" y="310895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Deterministic?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46120" y="3063239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91839" y="3108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Yes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26480" y="3063239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6172200" y="3108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7E22"/>
                </a:solidFill>
                <a:latin typeface="Calibri"/>
              </a:rPr>
              <a:t>No (random noise + baseline)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006840" y="3063239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9052560" y="310895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Yes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611879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20040" y="365759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Captures interactions?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46120" y="3611879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91839" y="36575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Partially (via gradient path)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6480" y="3611879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6172200" y="36575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Better (via averaging over baselines)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06840" y="3611879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052560" y="365759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7E22"/>
                </a:solidFill>
                <a:latin typeface="Calibri"/>
              </a:rPr>
              <a:t>No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4160520"/>
            <a:ext cx="292608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20040" y="420624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Used in scTRaCT?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246120" y="4160520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91839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Yes ✓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26480" y="4160520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17220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Yes ✓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006840" y="4160520"/>
            <a:ext cx="2834640" cy="548640"/>
          </a:xfrm>
          <a:prstGeom prst="rect">
            <a:avLst/>
          </a:prstGeom>
          <a:solidFill>
            <a:srgbClr val="D6E8F5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9052560" y="4206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67E22"/>
                </a:solidFill>
                <a:latin typeface="Calibri"/>
              </a:rPr>
              <a:t>No — not applicable (2-token sequence)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274320" y="4709160"/>
            <a:ext cx="292608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320040" y="475488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Output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46120" y="470916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91839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Gene scores per class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126480" y="470916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617220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Gene scores per class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006840" y="4709160"/>
            <a:ext cx="283464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2E6D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9052560" y="47548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1A2E"/>
                </a:solidFill>
                <a:latin typeface="Calibri"/>
              </a:rPr>
              <a:t>Token attention weights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Summary &amp; Future Directions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795760" y="658368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555577"/>
                </a:solidFill>
                <a:latin typeface="Calibr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5486400" cy="5120640"/>
          </a:xfrm>
          <a:prstGeom prst="rect">
            <a:avLst/>
          </a:prstGeom>
          <a:solidFill>
            <a:srgbClr val="D6E8F5"/>
          </a:solidFill>
          <a:ln w="19050">
            <a:solidFill>
              <a:srgbClr val="1A3A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  <a:latin typeface="Calibri"/>
              </a:rPr>
              <a:t>What scTRaCT delivers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52120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Accurate cell type classification using a Transformer trained on both gene expression and MCA distance features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Handles class imbalance via Focal Loss — rare cell types are not ignored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Two XAI methods (IG + GradientSHAP) identify which genes drove each prediction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Results stored in AnnData — compatible with the Scanpy ecosystem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Automated plots (bar charts + heatmap) and CSVs ready for publication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371600"/>
            <a:ext cx="5669280" cy="5120640"/>
          </a:xfrm>
          <a:prstGeom prst="rect">
            <a:avLst/>
          </a:prstGeom>
          <a:solidFill>
            <a:srgbClr val="FDF2E9"/>
          </a:solidFill>
          <a:ln w="1905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67E22"/>
                </a:solidFill>
                <a:latin typeface="Calibri"/>
              </a:rPr>
              <a:t>Future Directions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53035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>
                <a:solidFill>
                  <a:srgbClr val="1A1A2E"/>
                </a:solidFill>
                <a:latin typeface="Calibri"/>
              </a:rPr>
              <a:t>Cross-dataset benchmarking against Seurat, scANVI, and TOSICA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Multi-dataset / cross-species transfer learning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Integrate RNA velocity features as a third input stream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Interactive visualization dashboard (Streamlit / Dash)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Attribution-guided marker discovery pipeline for wet-lab validation</a:t>
            </a:r>
          </a:p>
          <a:p>
            <a:r>
              <a:rPr sz="1300">
                <a:solidFill>
                  <a:srgbClr val="1A1A2E"/>
                </a:solidFill>
                <a:latin typeface="Calibri"/>
              </a:rPr>
              <a:t>Extend to spatial transcriptomics (spatial coordinates as additional context)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6473952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A3A5C"/>
                </a:solidFill>
                <a:latin typeface="Calibri"/>
              </a:rPr>
              <a:t>Thank you!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2568</Words>
  <Application>Microsoft Office PowerPoint</Application>
  <PresentationFormat>Custom</PresentationFormat>
  <Paragraphs>232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Mostafa Malmir</cp:lastModifiedBy>
  <cp:revision>1</cp:revision>
  <dcterms:created xsi:type="dcterms:W3CDTF">2013-01-27T09:14:16Z</dcterms:created>
  <dcterms:modified xsi:type="dcterms:W3CDTF">2026-03-16T04:04:42Z</dcterms:modified>
  <cp:category/>
</cp:coreProperties>
</file>